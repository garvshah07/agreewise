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6858000" cx="12191675"/>
  <p:notesSz cx="6858000" cy="12191675"/>
  <p:embeddedFontLst>
    <p:embeddedFont>
      <p:font typeface="Lato"/>
      <p:bold r:id="rId17"/>
      <p:boldItalic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B102D1-CA5A-475D-8344-1B0F581F6581}">
  <a:tblStyle styleId="{B8B102D1-CA5A-475D-8344-1B0F581F658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Lato-bold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Lato-bold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" name="Google Shape;1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3" name="Google Shape;7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fb7014d91a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fb7014d91a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9" name="Google Shape;149;g3fb7014d91a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5" name="Google Shape;15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6" name="Google Shape;186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4" name="Google Shape;214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master 1">
  <p:cSld name="Slide master 1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DD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76875" y="6558991"/>
            <a:ext cx="1071843" cy="2560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Relationship Id="rId5" Type="http://schemas.openxmlformats.org/officeDocument/2006/relationships/image" Target="../media/image9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Relationship Id="rId4" Type="http://schemas.openxmlformats.org/officeDocument/2006/relationships/image" Target="../media/image2.png"/><Relationship Id="rId5" Type="http://schemas.openxmlformats.org/officeDocument/2006/relationships/image" Target="../media/image17.png"/><Relationship Id="rId6" Type="http://schemas.openxmlformats.org/officeDocument/2006/relationships/image" Target="../media/image16.png"/><Relationship Id="rId7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Relationship Id="rId4" Type="http://schemas.openxmlformats.org/officeDocument/2006/relationships/image" Target="../media/image14.png"/><Relationship Id="rId5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20" name="Google Shape;20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11845"/>
            <a:ext cx="4571886" cy="6857998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4"/>
          <p:cNvSpPr/>
          <p:nvPr/>
        </p:nvSpPr>
        <p:spPr>
          <a:xfrm>
            <a:off x="5233360" y="1475680"/>
            <a:ext cx="6296860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700"/>
              <a:buFont typeface="Lato"/>
              <a:buNone/>
            </a:pPr>
            <a:r>
              <a:rPr b="1" i="0" lang="en-US" sz="37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AGREEWISE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"/>
          <p:cNvSpPr/>
          <p:nvPr/>
        </p:nvSpPr>
        <p:spPr>
          <a:xfrm>
            <a:off x="5233350" y="2349800"/>
            <a:ext cx="6297000" cy="15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Privacy policy reader</a:t>
            </a:r>
            <a:endParaRPr b="1" sz="14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Know before you agree.</a:t>
            </a:r>
            <a:endParaRPr sz="145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5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We find the three clauses most likely to affect you.</a:t>
            </a:r>
            <a:endParaRPr sz="1450">
              <a:solidFill>
                <a:srgbClr val="FF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5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1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NEXUS-26 HACKATHON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"/>
          <p:cNvSpPr/>
          <p:nvPr/>
        </p:nvSpPr>
        <p:spPr>
          <a:xfrm>
            <a:off x="5233360" y="4107557"/>
            <a:ext cx="645600" cy="287139"/>
          </a:xfrm>
          <a:prstGeom prst="roundRect">
            <a:avLst>
              <a:gd fmla="val 7899" name="adj"/>
            </a:avLst>
          </a:prstGeom>
          <a:noFill/>
          <a:ln cap="flat" cmpd="sng" w="9525">
            <a:solidFill>
              <a:srgbClr val="2828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/>
          <p:nvPr/>
        </p:nvSpPr>
        <p:spPr>
          <a:xfrm>
            <a:off x="5346765" y="4164211"/>
            <a:ext cx="1028377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TEAM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5233350" y="4607326"/>
            <a:ext cx="2917800" cy="8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Team ID :- 64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Team Name :- Doom Coders</a:t>
            </a:r>
            <a:endParaRPr b="0" i="0" sz="1450" u="none" cap="none" strike="noStrike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</a:t>
            </a: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arv Shah  ·  Dishank Shah</a:t>
            </a:r>
            <a:endParaRPr sz="14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6" name="Google Shape;26;p4"/>
          <p:cNvSpPr/>
          <p:nvPr/>
        </p:nvSpPr>
        <p:spPr>
          <a:xfrm>
            <a:off x="8618719" y="4107557"/>
            <a:ext cx="692133" cy="287139"/>
          </a:xfrm>
          <a:prstGeom prst="roundRect">
            <a:avLst>
              <a:gd fmla="val 7899" name="adj"/>
            </a:avLst>
          </a:prstGeom>
          <a:noFill/>
          <a:ln cap="flat" cmpd="sng" w="9525">
            <a:solidFill>
              <a:srgbClr val="2828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8732123" y="4164211"/>
            <a:ext cx="1074909" cy="1738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150"/>
              <a:buFont typeface="Lato"/>
              <a:buNone/>
            </a:pPr>
            <a:r>
              <a:rPr b="0" i="0" lang="en-US" sz="11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STACK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8618719" y="4607322"/>
            <a:ext cx="2917800" cy="6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React</a:t>
            </a: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+ Vite </a:t>
            </a: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·</a:t>
            </a: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JavaScrip</a:t>
            </a: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 ·</a:t>
            </a: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GROQ LLM 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/>
          <p:nvPr/>
        </p:nvSpPr>
        <p:spPr>
          <a:xfrm>
            <a:off x="661475" y="1248370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700"/>
              <a:buFont typeface="Lato"/>
              <a:buNone/>
            </a:pPr>
            <a:r>
              <a:rPr b="1" i="0" lang="en-US" sz="37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THE "TOO LONG; DIDN'T READ" PROBLEM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5"/>
          <p:cNvSpPr/>
          <p:nvPr/>
        </p:nvSpPr>
        <p:spPr>
          <a:xfrm>
            <a:off x="661475" y="2122488"/>
            <a:ext cx="1086874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Companies constantly update their Terms of Service and Privacy Policies — users rarely have the time or expertise to understand the legal language.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661475" y="2939951"/>
            <a:ext cx="5339820" cy="1089124"/>
          </a:xfrm>
          <a:prstGeom prst="roundRect">
            <a:avLst>
              <a:gd fmla="val 2603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850482" y="3128963"/>
            <a:ext cx="49618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850"/>
              <a:buFont typeface="Lato"/>
              <a:buNone/>
            </a:pPr>
            <a:r>
              <a:rPr b="1" i="0" lang="en-US" sz="1850" u="none" cap="none" strike="noStrike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Long &amp; Complex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5"/>
          <p:cNvSpPr/>
          <p:nvPr/>
        </p:nvSpPr>
        <p:spPr>
          <a:xfrm>
            <a:off x="850482" y="3537645"/>
            <a:ext cx="4961806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Lengthy legal language that is difficult to parse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6190301" y="2939951"/>
            <a:ext cx="5339919" cy="1089124"/>
          </a:xfrm>
          <a:prstGeom prst="roundRect">
            <a:avLst>
              <a:gd fmla="val 2603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" name="Google Shape;41;p5"/>
          <p:cNvSpPr/>
          <p:nvPr/>
        </p:nvSpPr>
        <p:spPr>
          <a:xfrm>
            <a:off x="6379308" y="3128963"/>
            <a:ext cx="49619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850"/>
              <a:buFont typeface="Lato"/>
              <a:buNone/>
            </a:pPr>
            <a:r>
              <a:rPr b="1" i="0" lang="en-US" sz="1850" u="none" cap="none" strike="noStrike">
                <a:solidFill>
                  <a:srgbClr val="FF9800"/>
                </a:solidFill>
                <a:latin typeface="Lato"/>
                <a:ea typeface="Lato"/>
                <a:cs typeface="Lato"/>
                <a:sym typeface="Lato"/>
              </a:rPr>
              <a:t>Frequently Updated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5"/>
          <p:cNvSpPr/>
          <p:nvPr/>
        </p:nvSpPr>
        <p:spPr>
          <a:xfrm>
            <a:off x="6379308" y="3537645"/>
            <a:ext cx="4961905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Policies change — users miss critical updates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5"/>
          <p:cNvSpPr/>
          <p:nvPr/>
        </p:nvSpPr>
        <p:spPr>
          <a:xfrm>
            <a:off x="661475" y="4218087"/>
            <a:ext cx="5339820" cy="1391543"/>
          </a:xfrm>
          <a:prstGeom prst="roundRect">
            <a:avLst>
              <a:gd fmla="val 2038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"/>
          <p:cNvSpPr/>
          <p:nvPr/>
        </p:nvSpPr>
        <p:spPr>
          <a:xfrm>
            <a:off x="850482" y="4407098"/>
            <a:ext cx="4961806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D32F2F"/>
              </a:buClr>
              <a:buSzPts val="1850"/>
              <a:buFont typeface="Lato"/>
              <a:buNone/>
            </a:pPr>
            <a:r>
              <a:rPr b="1" i="0" lang="en-US" sz="1850" u="none" cap="none" strike="noStrike">
                <a:solidFill>
                  <a:srgbClr val="D32F2F"/>
                </a:solidFill>
                <a:latin typeface="Lato"/>
                <a:ea typeface="Lato"/>
                <a:cs typeface="Lato"/>
                <a:sym typeface="Lato"/>
              </a:rPr>
              <a:t>Blindly Accepted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5"/>
          <p:cNvSpPr/>
          <p:nvPr/>
        </p:nvSpPr>
        <p:spPr>
          <a:xfrm>
            <a:off x="850482" y="4815780"/>
            <a:ext cx="4961806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Users click "Agree" without understanding what they consent to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/>
          <p:nvPr/>
        </p:nvSpPr>
        <p:spPr>
          <a:xfrm>
            <a:off x="6190301" y="4218087"/>
            <a:ext cx="5339919" cy="1391543"/>
          </a:xfrm>
          <a:prstGeom prst="roundRect">
            <a:avLst>
              <a:gd fmla="val 2038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6379308" y="4407098"/>
            <a:ext cx="4961905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1850"/>
              <a:buFont typeface="Lato"/>
              <a:buNone/>
            </a:pPr>
            <a:r>
              <a:rPr b="1" i="0" lang="en-US" sz="1850" u="none" cap="none" strike="noStrike">
                <a:solidFill>
                  <a:srgbClr val="FF9800"/>
                </a:solidFill>
                <a:latin typeface="Lato"/>
                <a:ea typeface="Lato"/>
                <a:cs typeface="Lato"/>
                <a:sym typeface="Lato"/>
              </a:rPr>
              <a:t>Hidden Data Risks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6379308" y="4815780"/>
            <a:ext cx="4961905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Unknowing consent to AI training, data sharing &amp; broad content rights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"/>
          <p:cNvSpPr/>
          <p:nvPr/>
        </p:nvSpPr>
        <p:spPr>
          <a:xfrm>
            <a:off x="661475" y="531118"/>
            <a:ext cx="10868745" cy="52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300"/>
              <a:buFont typeface="Lato"/>
              <a:buNone/>
            </a:pPr>
            <a:r>
              <a:rPr b="1" i="0" lang="en-US" sz="33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WHY THIS PROBLEM MATTERS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6"/>
          <p:cNvSpPr/>
          <p:nvPr/>
        </p:nvSpPr>
        <p:spPr>
          <a:xfrm>
            <a:off x="661475" y="1357015"/>
            <a:ext cx="11478330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The challenge is not access to the policy — it is understanding </a:t>
            </a:r>
            <a:r>
              <a:rPr b="1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what actually matters</a:t>
            </a: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hidden inside large amounts of legal text.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57" name="Google Shape;5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948954"/>
            <a:ext cx="3537060" cy="1303139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6"/>
          <p:cNvSpPr/>
          <p:nvPr/>
        </p:nvSpPr>
        <p:spPr>
          <a:xfrm>
            <a:off x="924993" y="2136279"/>
            <a:ext cx="3086221" cy="269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🔴</a:t>
            </a: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HIGH RISK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6"/>
          <p:cNvSpPr/>
          <p:nvPr/>
        </p:nvSpPr>
        <p:spPr>
          <a:xfrm>
            <a:off x="924993" y="2555577"/>
            <a:ext cx="3086221" cy="50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"Your content may be used to improve or train AI systems."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0" name="Google Shape;6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475" y="4855071"/>
            <a:ext cx="3537060" cy="1303139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6"/>
          <p:cNvSpPr/>
          <p:nvPr/>
        </p:nvSpPr>
        <p:spPr>
          <a:xfrm>
            <a:off x="924993" y="5042396"/>
            <a:ext cx="3086221" cy="2693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🔵</a:t>
            </a: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IMPORTANT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6"/>
          <p:cNvSpPr/>
          <p:nvPr/>
        </p:nvSpPr>
        <p:spPr>
          <a:xfrm>
            <a:off x="924993" y="5461695"/>
            <a:ext cx="3086221" cy="5091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"Certain rights or licenses may continue after account deletion."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6"/>
          <p:cNvSpPr/>
          <p:nvPr/>
        </p:nvSpPr>
        <p:spPr>
          <a:xfrm>
            <a:off x="4615640" y="2529780"/>
            <a:ext cx="6920831" cy="26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Current User Journey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64" name="Google Shape;6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15640" y="2961481"/>
            <a:ext cx="6920831" cy="2597051"/>
          </a:xfrm>
          <a:prstGeom prst="rect">
            <a:avLst/>
          </a:prstGeom>
          <a:noFill/>
          <a:ln>
            <a:noFill/>
          </a:ln>
        </p:spPr>
      </p:pic>
      <p:sp>
        <p:nvSpPr>
          <p:cNvPr id="65" name="Google Shape;65;p6"/>
          <p:cNvSpPr/>
          <p:nvPr/>
        </p:nvSpPr>
        <p:spPr>
          <a:xfrm>
            <a:off x="10207583" y="4928074"/>
            <a:ext cx="1043857" cy="2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1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Hidden Risk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6"/>
          <p:cNvSpPr/>
          <p:nvPr/>
        </p:nvSpPr>
        <p:spPr>
          <a:xfrm>
            <a:off x="8892037" y="4928074"/>
            <a:ext cx="1043857" cy="2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1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Clicks Agree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6"/>
          <p:cNvSpPr/>
          <p:nvPr/>
        </p:nvSpPr>
        <p:spPr>
          <a:xfrm>
            <a:off x="7583641" y="4928074"/>
            <a:ext cx="1043857" cy="2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1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Skips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6"/>
          <p:cNvSpPr/>
          <p:nvPr/>
        </p:nvSpPr>
        <p:spPr>
          <a:xfrm>
            <a:off x="6275245" y="4827529"/>
            <a:ext cx="1043857" cy="402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1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Complex Language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6"/>
          <p:cNvSpPr/>
          <p:nvPr/>
        </p:nvSpPr>
        <p:spPr>
          <a:xfrm>
            <a:off x="4938250" y="4928074"/>
            <a:ext cx="1043857" cy="2010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1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Long Policy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7"/>
          <p:cNvSpPr/>
          <p:nvPr/>
        </p:nvSpPr>
        <p:spPr>
          <a:xfrm>
            <a:off x="661475" y="543024"/>
            <a:ext cx="10868745" cy="5352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350"/>
              <a:buFont typeface="Lato"/>
              <a:buNone/>
            </a:pPr>
            <a:r>
              <a:rPr b="1" i="0" lang="en-US" sz="33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EXPECTED OUTCOME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7"/>
          <p:cNvSpPr/>
          <p:nvPr/>
        </p:nvSpPr>
        <p:spPr>
          <a:xfrm>
            <a:off x="661475" y="1388765"/>
            <a:ext cx="11478330" cy="26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 fast, simple, and understandable way to identify the most important or potentially risky clauses — </a:t>
            </a:r>
            <a:r>
              <a:rPr b="1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 seconds</a:t>
            </a: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7"/>
          <p:cNvSpPr/>
          <p:nvPr/>
        </p:nvSpPr>
        <p:spPr>
          <a:xfrm>
            <a:off x="538149" y="1824633"/>
            <a:ext cx="5472075" cy="2155527"/>
          </a:xfrm>
          <a:prstGeom prst="roundRect">
            <a:avLst>
              <a:gd fmla="val 1192" name="adj"/>
            </a:avLst>
          </a:prstGeom>
          <a:solidFill>
            <a:srgbClr val="0066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7"/>
          <p:cNvSpPr/>
          <p:nvPr/>
        </p:nvSpPr>
        <p:spPr>
          <a:xfrm>
            <a:off x="709396" y="1979811"/>
            <a:ext cx="5129580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Before AgreeWise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7"/>
          <p:cNvSpPr/>
          <p:nvPr/>
        </p:nvSpPr>
        <p:spPr>
          <a:xfrm>
            <a:off x="709396" y="2402582"/>
            <a:ext cx="5129580" cy="152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500">
            <a:noAutofit/>
          </a:bodyPr>
          <a:lstStyle/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Read lengthy policy manually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Search for important clauses yourself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Struggle with legal language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Unclear privacy implications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Time-consuming process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7"/>
          <p:cNvSpPr/>
          <p:nvPr/>
        </p:nvSpPr>
        <p:spPr>
          <a:xfrm>
            <a:off x="6311147" y="1979811"/>
            <a:ext cx="5225423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After AgreeWise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7"/>
          <p:cNvSpPr/>
          <p:nvPr/>
        </p:nvSpPr>
        <p:spPr>
          <a:xfrm>
            <a:off x="6311147" y="2402582"/>
            <a:ext cx="5225423" cy="15233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8500">
            <a:noAutofit/>
          </a:bodyPr>
          <a:lstStyle/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Scan the policy instantly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identifies important clauses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Simple plain-language explanations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 classification at a glance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64160" lvl="0" marL="26416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Char char="•"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Top 3 clauses delivered in seconds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7"/>
          <p:cNvSpPr/>
          <p:nvPr/>
        </p:nvSpPr>
        <p:spPr>
          <a:xfrm>
            <a:off x="661475" y="4154785"/>
            <a:ext cx="2600756" cy="1002506"/>
          </a:xfrm>
          <a:prstGeom prst="roundRect">
            <a:avLst>
              <a:gd fmla="val 2563" name="adj"/>
            </a:avLst>
          </a:prstGeom>
          <a:solidFill>
            <a:srgbClr val="EFECE6"/>
          </a:solidFill>
          <a:ln cap="flat" cmpd="sng" w="19050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7"/>
          <p:cNvSpPr/>
          <p:nvPr/>
        </p:nvSpPr>
        <p:spPr>
          <a:xfrm>
            <a:off x="851772" y="4345087"/>
            <a:ext cx="2220162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Risk Level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7"/>
          <p:cNvSpPr/>
          <p:nvPr/>
        </p:nvSpPr>
        <p:spPr>
          <a:xfrm>
            <a:off x="851772" y="4705747"/>
            <a:ext cx="2220162" cy="26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High </a:t>
            </a:r>
            <a:r>
              <a:rPr lang="en-US" sz="13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&amp; </a:t>
            </a: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Important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7"/>
          <p:cNvSpPr/>
          <p:nvPr/>
        </p:nvSpPr>
        <p:spPr>
          <a:xfrm>
            <a:off x="3417405" y="4154785"/>
            <a:ext cx="2600855" cy="1002506"/>
          </a:xfrm>
          <a:prstGeom prst="roundRect">
            <a:avLst>
              <a:gd fmla="val 2563" name="adj"/>
            </a:avLst>
          </a:prstGeom>
          <a:solidFill>
            <a:srgbClr val="EFECE6"/>
          </a:solidFill>
          <a:ln cap="flat" cmpd="sng" w="19050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7"/>
          <p:cNvSpPr/>
          <p:nvPr/>
        </p:nvSpPr>
        <p:spPr>
          <a:xfrm>
            <a:off x="3607702" y="4345087"/>
            <a:ext cx="2220262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Clause Title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7"/>
          <p:cNvSpPr/>
          <p:nvPr/>
        </p:nvSpPr>
        <p:spPr>
          <a:xfrm>
            <a:off x="3607702" y="4705747"/>
            <a:ext cx="2220262" cy="26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lang="en-US" sz="13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clearly explained label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7"/>
          <p:cNvSpPr/>
          <p:nvPr/>
        </p:nvSpPr>
        <p:spPr>
          <a:xfrm>
            <a:off x="6173435" y="4154785"/>
            <a:ext cx="2600756" cy="1002506"/>
          </a:xfrm>
          <a:prstGeom prst="roundRect">
            <a:avLst>
              <a:gd fmla="val 2563" name="adj"/>
            </a:avLst>
          </a:prstGeom>
          <a:solidFill>
            <a:srgbClr val="EFECE6"/>
          </a:solidFill>
          <a:ln cap="flat" cmpd="sng" w="19050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7"/>
          <p:cNvSpPr/>
          <p:nvPr/>
        </p:nvSpPr>
        <p:spPr>
          <a:xfrm>
            <a:off x="6363731" y="4345087"/>
            <a:ext cx="2220162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Explanation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7"/>
          <p:cNvSpPr/>
          <p:nvPr/>
        </p:nvSpPr>
        <p:spPr>
          <a:xfrm>
            <a:off x="6363731" y="4705747"/>
            <a:ext cx="2220162" cy="26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Plain-language summary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7"/>
          <p:cNvSpPr/>
          <p:nvPr/>
        </p:nvSpPr>
        <p:spPr>
          <a:xfrm>
            <a:off x="8929365" y="4154785"/>
            <a:ext cx="2600855" cy="1002506"/>
          </a:xfrm>
          <a:prstGeom prst="roundRect">
            <a:avLst>
              <a:gd fmla="val 2563" name="adj"/>
            </a:avLst>
          </a:prstGeom>
          <a:solidFill>
            <a:srgbClr val="EFECE6"/>
          </a:solidFill>
          <a:ln cap="flat" cmpd="sng" w="19050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7"/>
          <p:cNvSpPr/>
          <p:nvPr/>
        </p:nvSpPr>
        <p:spPr>
          <a:xfrm>
            <a:off x="9119662" y="4345087"/>
            <a:ext cx="2220262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Why It Matters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7"/>
          <p:cNvSpPr/>
          <p:nvPr/>
        </p:nvSpPr>
        <p:spPr>
          <a:xfrm>
            <a:off x="9119662" y="4705747"/>
            <a:ext cx="2220262" cy="26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Impact on you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7"/>
          <p:cNvSpPr/>
          <p:nvPr/>
        </p:nvSpPr>
        <p:spPr>
          <a:xfrm>
            <a:off x="661475" y="5312470"/>
            <a:ext cx="10868745" cy="1002506"/>
          </a:xfrm>
          <a:prstGeom prst="roundRect">
            <a:avLst>
              <a:gd fmla="val 2563" name="adj"/>
            </a:avLst>
          </a:prstGeom>
          <a:solidFill>
            <a:srgbClr val="EFECE6"/>
          </a:solidFill>
          <a:ln cap="flat" cmpd="sng" w="19050">
            <a:solidFill>
              <a:srgbClr val="CBC5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851772" y="5502771"/>
            <a:ext cx="10488152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Original Clause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7"/>
          <p:cNvSpPr/>
          <p:nvPr/>
        </p:nvSpPr>
        <p:spPr>
          <a:xfrm>
            <a:off x="851772" y="5863431"/>
            <a:ext cx="10488152" cy="26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Available for review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8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5" name="Google Shape;10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624" y="128389"/>
            <a:ext cx="4400638" cy="6601123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8"/>
          <p:cNvSpPr/>
          <p:nvPr/>
        </p:nvSpPr>
        <p:spPr>
          <a:xfrm>
            <a:off x="5233360" y="556617"/>
            <a:ext cx="6296860" cy="10705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350"/>
              <a:buFont typeface="Lato"/>
              <a:buNone/>
            </a:pPr>
            <a:r>
              <a:rPr b="1" i="0" lang="en-US" sz="33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PROPOSED SOLUTION — AGREEWISE</a:t>
            </a:r>
            <a:endParaRPr b="0" i="0" sz="33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8"/>
          <p:cNvSpPr/>
          <p:nvPr/>
        </p:nvSpPr>
        <p:spPr>
          <a:xfrm>
            <a:off x="5233360" y="1859955"/>
            <a:ext cx="6297000" cy="7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 lightweight Chrome extension that extracts Terms of Service or Privacy Policy content, sends it to an LLM </a:t>
            </a:r>
            <a:r>
              <a:rPr lang="en-US" sz="130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Model</a:t>
            </a: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and returns a concise summary of the most important or risky clauses.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8"/>
          <p:cNvSpPr/>
          <p:nvPr/>
        </p:nvSpPr>
        <p:spPr>
          <a:xfrm>
            <a:off x="5233360" y="2973487"/>
            <a:ext cx="2939480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Two Input Methods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09" name="Google Shape;109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7553" y="3420963"/>
            <a:ext cx="256871" cy="25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8"/>
          <p:cNvSpPr/>
          <p:nvPr/>
        </p:nvSpPr>
        <p:spPr>
          <a:xfrm>
            <a:off x="5789964" y="3415705"/>
            <a:ext cx="2382877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Scan Current Page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/>
          <p:nvPr/>
        </p:nvSpPr>
        <p:spPr>
          <a:xfrm>
            <a:off x="5789964" y="3838476"/>
            <a:ext cx="2382877" cy="522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 webpage text from DOM → Analyze with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2" name="Google Shape;11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297553" y="4676676"/>
            <a:ext cx="256871" cy="256877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8"/>
          <p:cNvSpPr/>
          <p:nvPr/>
        </p:nvSpPr>
        <p:spPr>
          <a:xfrm>
            <a:off x="5789964" y="4671417"/>
            <a:ext cx="2382877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Upload PDF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/>
          <p:nvPr/>
        </p:nvSpPr>
        <p:spPr>
          <a:xfrm>
            <a:off x="5789964" y="5094188"/>
            <a:ext cx="2382877" cy="5224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 PDF text → Analyze with AI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8597090" y="2973487"/>
            <a:ext cx="2939480" cy="2675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Risk Levels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6" name="Google Shape;116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578040" y="3396655"/>
            <a:ext cx="2958530" cy="734814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8"/>
          <p:cNvSpPr/>
          <p:nvPr/>
        </p:nvSpPr>
        <p:spPr>
          <a:xfrm>
            <a:off x="8806436" y="3415705"/>
            <a:ext cx="2730134" cy="2802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🔴</a:t>
            </a: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HIGH RISK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806436" y="3851176"/>
            <a:ext cx="2730134" cy="2612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Critical privacy or data concerns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19" name="Google Shape;119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578040" y="4671419"/>
            <a:ext cx="2958530" cy="73481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8"/>
          <p:cNvSpPr/>
          <p:nvPr/>
        </p:nvSpPr>
        <p:spPr>
          <a:xfrm>
            <a:off x="8806436" y="4690469"/>
            <a:ext cx="2730000" cy="2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50"/>
              <a:buFont typeface="Arial"/>
              <a:buNone/>
            </a:pPr>
            <a:r>
              <a:rPr b="1" i="0" lang="en-US" sz="16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🔵</a:t>
            </a: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IMPORTANT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/>
          <p:nvPr/>
        </p:nvSpPr>
        <p:spPr>
          <a:xfrm>
            <a:off x="8806436" y="5125940"/>
            <a:ext cx="2730000" cy="26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Key details to understand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8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9"/>
          <p:cNvSpPr/>
          <p:nvPr/>
        </p:nvSpPr>
        <p:spPr>
          <a:xfrm>
            <a:off x="661475" y="616347"/>
            <a:ext cx="10868745" cy="5260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300"/>
              <a:buFont typeface="Lato"/>
              <a:buNone/>
            </a:pPr>
            <a:r>
              <a:rPr b="1" i="0" lang="en-US" sz="33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AgreeWise – System Workflow</a:t>
            </a:r>
            <a:endParaRPr b="0" i="0" sz="3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29" name="Google Shape;12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1535906"/>
            <a:ext cx="6649572" cy="3623569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9"/>
          <p:cNvSpPr/>
          <p:nvPr/>
        </p:nvSpPr>
        <p:spPr>
          <a:xfrm>
            <a:off x="8563455" y="1625302"/>
            <a:ext cx="84135" cy="84138"/>
          </a:xfrm>
          <a:prstGeom prst="ellipse">
            <a:avLst/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"/>
          <p:cNvSpPr/>
          <p:nvPr/>
        </p:nvSpPr>
        <p:spPr>
          <a:xfrm>
            <a:off x="8797506" y="1535906"/>
            <a:ext cx="2738964" cy="26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Input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9"/>
          <p:cNvSpPr/>
          <p:nvPr/>
        </p:nvSpPr>
        <p:spPr>
          <a:xfrm>
            <a:off x="8797506" y="1948855"/>
            <a:ext cx="2738964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Scan webpage or upload PDF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9"/>
          <p:cNvSpPr/>
          <p:nvPr/>
        </p:nvSpPr>
        <p:spPr>
          <a:xfrm>
            <a:off x="8563455" y="2592685"/>
            <a:ext cx="84135" cy="84138"/>
          </a:xfrm>
          <a:prstGeom prst="ellipse">
            <a:avLst/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9"/>
          <p:cNvSpPr/>
          <p:nvPr/>
        </p:nvSpPr>
        <p:spPr>
          <a:xfrm>
            <a:off x="8797506" y="2503289"/>
            <a:ext cx="2738964" cy="26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Extract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/>
          <p:nvPr/>
        </p:nvSpPr>
        <p:spPr>
          <a:xfrm>
            <a:off x="8797506" y="2916237"/>
            <a:ext cx="2738964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Collect policy text from DOM or PDF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/>
          <p:nvPr/>
        </p:nvSpPr>
        <p:spPr>
          <a:xfrm>
            <a:off x="8563455" y="3560068"/>
            <a:ext cx="84135" cy="84138"/>
          </a:xfrm>
          <a:prstGeom prst="ellipse">
            <a:avLst/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9"/>
          <p:cNvSpPr/>
          <p:nvPr/>
        </p:nvSpPr>
        <p:spPr>
          <a:xfrm>
            <a:off x="8797506" y="3470672"/>
            <a:ext cx="2738964" cy="26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Process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9"/>
          <p:cNvSpPr/>
          <p:nvPr/>
        </p:nvSpPr>
        <p:spPr>
          <a:xfrm>
            <a:off x="8797506" y="3883620"/>
            <a:ext cx="2738964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Clean and combine content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9"/>
          <p:cNvSpPr/>
          <p:nvPr/>
        </p:nvSpPr>
        <p:spPr>
          <a:xfrm>
            <a:off x="8563455" y="4527451"/>
            <a:ext cx="84135" cy="84138"/>
          </a:xfrm>
          <a:prstGeom prst="ellipse">
            <a:avLst/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9"/>
          <p:cNvSpPr/>
          <p:nvPr/>
        </p:nvSpPr>
        <p:spPr>
          <a:xfrm>
            <a:off x="8797506" y="4438055"/>
            <a:ext cx="2738964" cy="26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Analyze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/>
          <p:nvPr/>
        </p:nvSpPr>
        <p:spPr>
          <a:xfrm>
            <a:off x="8797506" y="4851003"/>
            <a:ext cx="2738964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Groq LLM identifies clauses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/>
          <p:nvPr/>
        </p:nvSpPr>
        <p:spPr>
          <a:xfrm>
            <a:off x="8563455" y="5494834"/>
            <a:ext cx="84135" cy="84138"/>
          </a:xfrm>
          <a:prstGeom prst="ellipse">
            <a:avLst/>
          </a:prstGeom>
          <a:solidFill>
            <a:srgbClr val="28282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"/>
          <p:cNvSpPr/>
          <p:nvPr/>
        </p:nvSpPr>
        <p:spPr>
          <a:xfrm>
            <a:off x="8797506" y="5405438"/>
            <a:ext cx="2738964" cy="26302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50"/>
              <a:buFont typeface="Lato"/>
              <a:buNone/>
            </a:pPr>
            <a:r>
              <a:rPr b="1" i="0" lang="en-US" sz="16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Result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9"/>
          <p:cNvSpPr/>
          <p:nvPr/>
        </p:nvSpPr>
        <p:spPr>
          <a:xfrm>
            <a:off x="8797506" y="5818386"/>
            <a:ext cx="2738964" cy="2545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00"/>
              <a:buFont typeface="Lato"/>
              <a:buNone/>
            </a:pPr>
            <a:r>
              <a:rPr b="0" i="0" lang="en-US" sz="13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Classify risk and save to History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1" name="Google Shape;151;p10"/>
          <p:cNvGraphicFramePr/>
          <p:nvPr/>
        </p:nvGraphicFramePr>
        <p:xfrm>
          <a:off x="787400" y="1233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{B8B102D1-CA5A-475D-8344-1B0F581F6581}</a:tableStyleId>
              </a:tblPr>
              <a:tblGrid>
                <a:gridCol w="1104900"/>
                <a:gridCol w="1962150"/>
                <a:gridCol w="2838450"/>
                <a:gridCol w="4210050"/>
              </a:tblGrid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Solution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Main Approach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Key Limitation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AgreeWise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Manual Reading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User reads the complete policy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Time-consuming and difficult to understand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AI-based quick analysis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ToS;DR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Ratings and policy summaries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Focuses mainly on existing ratings/summaries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Clause-level risk analysis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Policy Pal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analysis + supporting quotes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Mainly focused on webpage policies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Web + PDF analysis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ToS Scanner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Risk/fairness score + red flags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Primarily webpage-focused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HIGH / MEDIUM / LOW risk findings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TermsLens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Policy/legal document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Broader legal-document workflow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Simple policy-focused workflow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AgreeWise</a:t>
                      </a:r>
                      <a:endParaRPr b="1" sz="1100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AI-powered policy analysis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—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100"/>
                        <a:t>Web + PDF + Risk + Evidence + Explanation + History</a:t>
                      </a:r>
                      <a:endParaRPr b="1" sz="1100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2" name="Google Shape;152;p10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/>
          <p:nvPr/>
        </p:nvSpPr>
        <p:spPr>
          <a:xfrm>
            <a:off x="661475" y="524768"/>
            <a:ext cx="10868745" cy="3046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900"/>
              <a:buFont typeface="Lato"/>
              <a:buNone/>
            </a:pPr>
            <a:r>
              <a:rPr b="1" i="0" lang="en-US" sz="19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TECHNOLOGIES &amp; TOOLS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59" name="Google Shape;15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961132"/>
            <a:ext cx="5315512" cy="531564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60" name="Google Shape;16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59175" y="1462975"/>
            <a:ext cx="589132" cy="589146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1"/>
          <p:cNvSpPr/>
          <p:nvPr/>
        </p:nvSpPr>
        <p:spPr>
          <a:xfrm>
            <a:off x="7200248" y="1462999"/>
            <a:ext cx="1733400" cy="369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298"/>
              <a:buFont typeface="Lato"/>
              <a:buNone/>
            </a:pPr>
            <a:r>
              <a:rPr b="1" i="0" lang="en-US" sz="2298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Frontend</a:t>
            </a:r>
            <a:endParaRPr b="0" i="0" sz="229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1"/>
          <p:cNvSpPr/>
          <p:nvPr/>
        </p:nvSpPr>
        <p:spPr>
          <a:xfrm>
            <a:off x="7200253" y="1952781"/>
            <a:ext cx="38931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14"/>
              <a:buFont typeface="Lato"/>
              <a:buNone/>
            </a:pPr>
            <a:r>
              <a:rPr b="0" i="0" lang="en-US" sz="1814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React.js · Tailwind CSS · HTML/CSS/JS</a:t>
            </a:r>
            <a:endParaRPr b="0" i="0" sz="18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3" name="Google Shape;16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459165" y="2600840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1"/>
          <p:cNvSpPr/>
          <p:nvPr/>
        </p:nvSpPr>
        <p:spPr>
          <a:xfrm>
            <a:off x="7143234" y="2624112"/>
            <a:ext cx="22962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2121"/>
              <a:buFont typeface="Lato"/>
              <a:buNone/>
            </a:pPr>
            <a:r>
              <a:rPr b="1" i="0" lang="en-US" sz="2121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Chrome Extension</a:t>
            </a:r>
            <a:endParaRPr b="0" i="0" sz="2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1"/>
          <p:cNvSpPr/>
          <p:nvPr/>
        </p:nvSpPr>
        <p:spPr>
          <a:xfrm>
            <a:off x="7200239" y="3076272"/>
            <a:ext cx="4191600" cy="26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675"/>
              <a:buFont typeface="Lato"/>
              <a:buNone/>
            </a:pPr>
            <a:r>
              <a:rPr b="0" i="0" lang="en-US" sz="1675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Manifest V3 · Content Scripts · Chrome APIs</a:t>
            </a:r>
            <a:endParaRPr b="0" i="0" sz="167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6" name="Google Shape;166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459179" y="3789205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1"/>
          <p:cNvSpPr/>
          <p:nvPr/>
        </p:nvSpPr>
        <p:spPr>
          <a:xfrm>
            <a:off x="7200252" y="3789188"/>
            <a:ext cx="1170300" cy="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87"/>
              <a:buFont typeface="Lato"/>
              <a:buNone/>
            </a:pPr>
            <a:r>
              <a:rPr b="1" i="0" lang="en-US" sz="1887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&amp; LLM</a:t>
            </a:r>
            <a:endParaRPr b="0" i="0" sz="188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1"/>
          <p:cNvSpPr/>
          <p:nvPr/>
        </p:nvSpPr>
        <p:spPr>
          <a:xfrm>
            <a:off x="7200250" y="4177875"/>
            <a:ext cx="3969000" cy="23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90"/>
              <a:buFont typeface="Lato"/>
              <a:buNone/>
            </a:pPr>
            <a:r>
              <a:rPr b="0" i="0" lang="en-US" sz="149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Groq API · Structured AI output · Policy analysis</a:t>
            </a:r>
            <a:endParaRPr b="0" i="0" sz="149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69" name="Google Shape;16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03876" y="4809800"/>
            <a:ext cx="585216" cy="585216"/>
          </a:xfrm>
          <a:prstGeom prst="rect">
            <a:avLst/>
          </a:prstGeom>
          <a:noFill/>
          <a:ln>
            <a:noFill/>
          </a:ln>
        </p:spPr>
      </p:pic>
      <p:sp>
        <p:nvSpPr>
          <p:cNvPr id="170" name="Google Shape;170;p11"/>
          <p:cNvSpPr/>
          <p:nvPr/>
        </p:nvSpPr>
        <p:spPr>
          <a:xfrm>
            <a:off x="7200254" y="4809788"/>
            <a:ext cx="1928100" cy="27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745"/>
              <a:buFont typeface="Lato"/>
              <a:buNone/>
            </a:pPr>
            <a:r>
              <a:rPr b="1" i="0" lang="en-US" sz="1745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Storage &amp; Design</a:t>
            </a:r>
            <a:endParaRPr b="0" i="0" sz="17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1"/>
          <p:cNvSpPr/>
          <p:nvPr/>
        </p:nvSpPr>
        <p:spPr>
          <a:xfrm>
            <a:off x="7200256" y="5177820"/>
            <a:ext cx="28101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1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378"/>
              <a:buFont typeface="Lato"/>
              <a:buNone/>
            </a:pPr>
            <a:r>
              <a:rPr b="0" i="0" lang="en-US" sz="1378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Browser Extension Storage API</a:t>
            </a:r>
            <a:endParaRPr b="0" i="0" sz="13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1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2"/>
          <p:cNvSpPr/>
          <p:nvPr/>
        </p:nvSpPr>
        <p:spPr>
          <a:xfrm>
            <a:off x="661475" y="568226"/>
            <a:ext cx="10868745" cy="3598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2250"/>
              <a:buFont typeface="Lato"/>
              <a:buNone/>
            </a:pPr>
            <a:r>
              <a:rPr b="1" i="0" lang="en-US" sz="22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PSEUDOCODE / ALGORITHM</a:t>
            </a:r>
            <a:endParaRPr b="0" i="0" sz="2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2"/>
          <p:cNvSpPr/>
          <p:nvPr/>
        </p:nvSpPr>
        <p:spPr>
          <a:xfrm>
            <a:off x="661475" y="1068388"/>
            <a:ext cx="11478330" cy="14823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7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900"/>
              <a:buFont typeface="Lato"/>
              <a:buNone/>
            </a:pPr>
            <a:r>
              <a:rPr b="0" i="0" lang="en-US" sz="90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Logical implementation flow for AgreeWise policy analysis: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2"/>
          <p:cNvSpPr/>
          <p:nvPr/>
        </p:nvSpPr>
        <p:spPr>
          <a:xfrm>
            <a:off x="661475" y="1374378"/>
            <a:ext cx="4401829" cy="4836418"/>
          </a:xfrm>
          <a:prstGeom prst="roundRect">
            <a:avLst>
              <a:gd fmla="val 393" name="adj"/>
            </a:avLst>
          </a:prstGeom>
          <a:solidFill>
            <a:srgbClr val="E2DFD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2"/>
          <p:cNvSpPr/>
          <p:nvPr/>
        </p:nvSpPr>
        <p:spPr>
          <a:xfrm>
            <a:off x="799683" y="1489472"/>
            <a:ext cx="4125412" cy="460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START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Get user input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IF Scan All Page: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Extract readable text from DOM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Detect supported pagination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Collect available policy content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Combine extracted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ELSE IF Upload PDF: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Extract text from PDF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Clean and normalize text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Split large content into chunks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Send processed content to Groq LLM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Identify important clauses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Classify risk: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HIGH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MODERATE RISK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  IMPORTANT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Generate short explanations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Select top 3 important clauses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Display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  Save result to History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D73A49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D73A49"/>
                </a:solidFill>
                <a:latin typeface="Consolas"/>
                <a:ea typeface="Consolas"/>
                <a:cs typeface="Consolas"/>
                <a:sym typeface="Consolas"/>
              </a:rPr>
              <a:t>END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2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83" name="Google Shape;183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15704" y="1369021"/>
            <a:ext cx="6823572" cy="35533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/>
          <p:nvPr/>
        </p:nvSpPr>
        <p:spPr>
          <a:xfrm>
            <a:off x="661475" y="526852"/>
            <a:ext cx="10868745" cy="4983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100"/>
              <a:buFont typeface="Lato"/>
              <a:buNone/>
            </a:pPr>
            <a:r>
              <a:rPr b="1" i="0" lang="en-US" sz="31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ASSUMPTIONS, CHALLENGES &amp; FUTURE SCOPE</a:t>
            </a:r>
            <a:endParaRPr b="0" i="0" sz="3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3"/>
          <p:cNvSpPr/>
          <p:nvPr/>
        </p:nvSpPr>
        <p:spPr>
          <a:xfrm>
            <a:off x="661475" y="1361579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Assumptions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3"/>
          <p:cNvSpPr/>
          <p:nvPr/>
        </p:nvSpPr>
        <p:spPr>
          <a:xfrm>
            <a:off x="661475" y="1745258"/>
            <a:ext cx="5239810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775">
            <a:noAutofit/>
          </a:bodyPr>
          <a:lstStyle/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Policy content is accessible and readable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User has internet access for LLM analysis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PDFs contain extractable text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Required browser permissions are available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output is </a:t>
            </a:r>
            <a:r>
              <a:rPr b="1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informational</a:t>
            </a: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not legal advice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3"/>
          <p:cNvSpPr/>
          <p:nvPr/>
        </p:nvSpPr>
        <p:spPr>
          <a:xfrm>
            <a:off x="661475" y="3300214"/>
            <a:ext cx="5239810" cy="19050"/>
          </a:xfrm>
          <a:prstGeom prst="roundRect">
            <a:avLst>
              <a:gd fmla="val 49999" name="adj"/>
            </a:avLst>
          </a:prstGeom>
          <a:solidFill>
            <a:srgbClr val="4A4A45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3"/>
          <p:cNvSpPr/>
          <p:nvPr/>
        </p:nvSpPr>
        <p:spPr>
          <a:xfrm>
            <a:off x="661475" y="3510359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Mitigation Strategies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3"/>
          <p:cNvSpPr/>
          <p:nvPr/>
        </p:nvSpPr>
        <p:spPr>
          <a:xfrm>
            <a:off x="661475" y="3894038"/>
            <a:ext cx="5239810" cy="1081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775">
            <a:noAutofit/>
          </a:bodyPr>
          <a:lstStyle/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Text cleaning and intelligent chunking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Structured prompts for consistent AI output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Show original clauses alongside AI explanations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Minimize unnecessary data storage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3"/>
          <p:cNvSpPr/>
          <p:nvPr/>
        </p:nvSpPr>
        <p:spPr>
          <a:xfrm>
            <a:off x="6296760" y="1361579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Challenges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3"/>
          <p:cNvSpPr/>
          <p:nvPr/>
        </p:nvSpPr>
        <p:spPr>
          <a:xfrm>
            <a:off x="6296760" y="1801813"/>
            <a:ext cx="5239810" cy="19050"/>
          </a:xfrm>
          <a:prstGeom prst="roundRect">
            <a:avLst>
              <a:gd fmla="val 49999" name="adj"/>
            </a:avLst>
          </a:prstGeom>
          <a:solidFill>
            <a:srgbClr val="4A4A45">
              <a:alpha val="50196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3"/>
          <p:cNvSpPr/>
          <p:nvPr/>
        </p:nvSpPr>
        <p:spPr>
          <a:xfrm>
            <a:off x="6296760" y="2011958"/>
            <a:ext cx="5239810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Future Scope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3"/>
          <p:cNvSpPr/>
          <p:nvPr/>
        </p:nvSpPr>
        <p:spPr>
          <a:xfrm>
            <a:off x="6296760" y="2395637"/>
            <a:ext cx="5239810" cy="13638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3775">
            <a:noAutofit/>
          </a:bodyPr>
          <a:lstStyle/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Multilingual support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Policy change detection &amp; alerts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Old vs. new policy comparison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Advanced risk scoring algorithms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54000" lvl="0" marL="25400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Char char="•"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Support for additional browsers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199" name="Google Shape;199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1475" y="5174059"/>
            <a:ext cx="2616234" cy="115708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13"/>
          <p:cNvSpPr/>
          <p:nvPr/>
        </p:nvSpPr>
        <p:spPr>
          <a:xfrm>
            <a:off x="916163" y="5352554"/>
            <a:ext cx="2183056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Token Limits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916163" y="5682357"/>
            <a:ext cx="2183056" cy="470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Very long policy documents exceed LLM context windows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2" name="Google Shape;202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412246" y="5174059"/>
            <a:ext cx="2616333" cy="1157089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3"/>
          <p:cNvSpPr/>
          <p:nvPr/>
        </p:nvSpPr>
        <p:spPr>
          <a:xfrm>
            <a:off x="3666934" y="5352554"/>
            <a:ext cx="21831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Dynamic Websites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3"/>
          <p:cNvSpPr/>
          <p:nvPr/>
        </p:nvSpPr>
        <p:spPr>
          <a:xfrm>
            <a:off x="3666934" y="5682357"/>
            <a:ext cx="2183155" cy="470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JavaScript-rendered pages complicate DOM extraction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5" name="Google Shape;20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63116" y="5174059"/>
            <a:ext cx="2616234" cy="115708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13"/>
          <p:cNvSpPr/>
          <p:nvPr/>
        </p:nvSpPr>
        <p:spPr>
          <a:xfrm>
            <a:off x="6417804" y="5352554"/>
            <a:ext cx="2183056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PDF Variations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3"/>
          <p:cNvSpPr/>
          <p:nvPr/>
        </p:nvSpPr>
        <p:spPr>
          <a:xfrm>
            <a:off x="6417804" y="5682357"/>
            <a:ext cx="2183056" cy="470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Formatting differences affect text extraction reliability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preencoded.png" id="208" name="Google Shape;208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913887" y="5174059"/>
            <a:ext cx="2616333" cy="115708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3"/>
          <p:cNvSpPr/>
          <p:nvPr/>
        </p:nvSpPr>
        <p:spPr>
          <a:xfrm>
            <a:off x="9168575" y="5352554"/>
            <a:ext cx="2183155" cy="2491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550"/>
              <a:buFont typeface="Lato"/>
              <a:buNone/>
            </a:pPr>
            <a:r>
              <a:rPr b="1" i="0" lang="en-US" sz="15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AI Consistency</a:t>
            </a:r>
            <a:endParaRPr b="0" i="0" sz="15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3"/>
          <p:cNvSpPr/>
          <p:nvPr/>
        </p:nvSpPr>
        <p:spPr>
          <a:xfrm>
            <a:off x="9168575" y="5682357"/>
            <a:ext cx="2183155" cy="4702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250"/>
              <a:buFont typeface="Lato"/>
              <a:buNone/>
            </a:pPr>
            <a:r>
              <a:rPr b="0" i="0" lang="en-US" sz="12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Interpretation accuracy and output consistency challenges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3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4"/>
          <p:cNvSpPr/>
          <p:nvPr/>
        </p:nvSpPr>
        <p:spPr>
          <a:xfrm>
            <a:off x="661475" y="1489273"/>
            <a:ext cx="10868745" cy="5906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3700"/>
              <a:buFont typeface="Lato"/>
              <a:buNone/>
            </a:pPr>
            <a:r>
              <a:rPr b="1" i="0" lang="en-US" sz="37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THANK YOU</a:t>
            </a:r>
            <a:endParaRPr b="0" i="0" sz="3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4"/>
          <p:cNvSpPr/>
          <p:nvPr/>
        </p:nvSpPr>
        <p:spPr>
          <a:xfrm>
            <a:off x="661475" y="2363391"/>
            <a:ext cx="10868745" cy="815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282824"/>
              </a:buClr>
              <a:buSzPts val="5100"/>
              <a:buFont typeface="Lato"/>
              <a:buNone/>
            </a:pPr>
            <a:r>
              <a:rPr b="1" i="0" lang="en-US" sz="5100" u="none" cap="none" strike="noStrike">
                <a:solidFill>
                  <a:srgbClr val="282824"/>
                </a:solidFill>
                <a:latin typeface="Lato"/>
                <a:ea typeface="Lato"/>
                <a:cs typeface="Lato"/>
                <a:sym typeface="Lato"/>
              </a:rPr>
              <a:t>AgreeWise</a:t>
            </a:r>
            <a:endParaRPr b="0" i="0" sz="5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4"/>
          <p:cNvSpPr/>
          <p:nvPr/>
        </p:nvSpPr>
        <p:spPr>
          <a:xfrm>
            <a:off x="356682" y="3462040"/>
            <a:ext cx="11478330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165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65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“</a:t>
            </a:r>
            <a:r>
              <a:rPr lang="en-US" sz="1650">
                <a:solidFill>
                  <a:srgbClr val="FF0000"/>
                </a:solidFill>
                <a:latin typeface="Lato"/>
                <a:ea typeface="Lato"/>
                <a:cs typeface="Lato"/>
                <a:sym typeface="Lato"/>
              </a:rPr>
              <a:t>Know before you agree.”</a:t>
            </a:r>
            <a:endParaRPr b="0" i="0" sz="1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4"/>
          <p:cNvSpPr/>
          <p:nvPr/>
        </p:nvSpPr>
        <p:spPr>
          <a:xfrm>
            <a:off x="661475" y="3977084"/>
            <a:ext cx="10868745" cy="1391543"/>
          </a:xfrm>
          <a:prstGeom prst="roundRect">
            <a:avLst>
              <a:gd fmla="val 2038" name="adj"/>
            </a:avLst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4"/>
          <p:cNvSpPr/>
          <p:nvPr/>
        </p:nvSpPr>
        <p:spPr>
          <a:xfrm>
            <a:off x="661475" y="3977084"/>
            <a:ext cx="3622882" cy="1391543"/>
          </a:xfrm>
          <a:custGeom>
            <a:rect b="b" l="l" r="r" t="t"/>
            <a:pathLst>
              <a:path extrusionOk="0" h="1391543" w="3622882">
                <a:moveTo>
                  <a:pt x="23627" y="0"/>
                </a:moveTo>
                <a:lnTo>
                  <a:pt x="3622882" y="0"/>
                </a:lnTo>
                <a:lnTo>
                  <a:pt x="3622882" y="1391543"/>
                </a:lnTo>
                <a:lnTo>
                  <a:pt x="23627" y="1391543"/>
                </a:lnTo>
                <a:cubicBezTo>
                  <a:pt x="10578" y="1391543"/>
                  <a:pt x="0" y="1380964"/>
                  <a:pt x="0" y="1367915"/>
                </a:cubicBezTo>
                <a:lnTo>
                  <a:pt x="0" y="23628"/>
                </a:lnTo>
                <a:cubicBezTo>
                  <a:pt x="0" y="10579"/>
                  <a:pt x="10578" y="0"/>
                  <a:pt x="23627" y="0"/>
                </a:cubicBezTo>
                <a:close/>
              </a:path>
            </a:pathLst>
          </a:cu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4"/>
          <p:cNvSpPr/>
          <p:nvPr/>
        </p:nvSpPr>
        <p:spPr>
          <a:xfrm>
            <a:off x="850482" y="4166096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None/>
            </a:pPr>
            <a:r>
              <a:rPr b="1" i="0" lang="en-US" sz="18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Team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4"/>
          <p:cNvSpPr/>
          <p:nvPr/>
        </p:nvSpPr>
        <p:spPr>
          <a:xfrm>
            <a:off x="850482" y="4574778"/>
            <a:ext cx="3244868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Garv</a:t>
            </a: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Shah</a:t>
            </a: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 ·  </a:t>
            </a: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Dishank</a:t>
            </a: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Shah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4"/>
          <p:cNvSpPr/>
          <p:nvPr/>
        </p:nvSpPr>
        <p:spPr>
          <a:xfrm>
            <a:off x="4284357" y="3977084"/>
            <a:ext cx="3622882" cy="1391543"/>
          </a:xfrm>
          <a:prstGeom prst="rect">
            <a:avLst/>
          </a:pr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4"/>
          <p:cNvSpPr/>
          <p:nvPr/>
        </p:nvSpPr>
        <p:spPr>
          <a:xfrm>
            <a:off x="4284357" y="3977084"/>
            <a:ext cx="25399" cy="1391543"/>
          </a:xfrm>
          <a:prstGeom prst="roundRect">
            <a:avLst>
              <a:gd fmla="val 50001" name="adj"/>
            </a:avLst>
          </a:prstGeom>
          <a:solidFill>
            <a:srgbClr val="CBC5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4"/>
          <p:cNvSpPr/>
          <p:nvPr/>
        </p:nvSpPr>
        <p:spPr>
          <a:xfrm>
            <a:off x="4473364" y="4166096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None/>
            </a:pPr>
            <a:r>
              <a:rPr b="1" i="0" lang="en-US" sz="18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Hackathon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4"/>
          <p:cNvSpPr/>
          <p:nvPr/>
        </p:nvSpPr>
        <p:spPr>
          <a:xfrm>
            <a:off x="4473364" y="4574778"/>
            <a:ext cx="3244868" cy="30241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b="0" i="0" lang="en-US" sz="14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NEXUS-26</a:t>
            </a:r>
            <a:endParaRPr b="0" i="0" sz="14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4"/>
          <p:cNvSpPr/>
          <p:nvPr/>
        </p:nvSpPr>
        <p:spPr>
          <a:xfrm>
            <a:off x="7907239" y="3977084"/>
            <a:ext cx="3622882" cy="1391543"/>
          </a:xfrm>
          <a:custGeom>
            <a:rect b="b" l="l" r="r" t="t"/>
            <a:pathLst>
              <a:path extrusionOk="0" h="1391543" w="3622882">
                <a:moveTo>
                  <a:pt x="0" y="0"/>
                </a:moveTo>
                <a:lnTo>
                  <a:pt x="3599255" y="0"/>
                </a:lnTo>
                <a:cubicBezTo>
                  <a:pt x="3605521" y="0"/>
                  <a:pt x="3611531" y="2489"/>
                  <a:pt x="3615962" y="6920"/>
                </a:cubicBezTo>
                <a:cubicBezTo>
                  <a:pt x="3620393" y="11352"/>
                  <a:pt x="3622882" y="17361"/>
                  <a:pt x="3622882" y="23628"/>
                </a:cubicBezTo>
                <a:lnTo>
                  <a:pt x="3622882" y="1367915"/>
                </a:lnTo>
                <a:cubicBezTo>
                  <a:pt x="3622882" y="1380964"/>
                  <a:pt x="3612304" y="1391543"/>
                  <a:pt x="3599255" y="1391543"/>
                </a:cubicBezTo>
                <a:lnTo>
                  <a:pt x="0" y="1391543"/>
                </a:lnTo>
                <a:lnTo>
                  <a:pt x="0" y="0"/>
                </a:lnTo>
                <a:close/>
              </a:path>
            </a:pathLst>
          </a:custGeom>
          <a:solidFill>
            <a:srgbClr val="E5DFD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4"/>
          <p:cNvSpPr/>
          <p:nvPr/>
        </p:nvSpPr>
        <p:spPr>
          <a:xfrm>
            <a:off x="7907239" y="3977084"/>
            <a:ext cx="25399" cy="1391543"/>
          </a:xfrm>
          <a:prstGeom prst="roundRect">
            <a:avLst>
              <a:gd fmla="val 50001" name="adj"/>
            </a:avLst>
          </a:prstGeom>
          <a:solidFill>
            <a:srgbClr val="CBC5B8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"/>
          <p:cNvSpPr/>
          <p:nvPr/>
        </p:nvSpPr>
        <p:spPr>
          <a:xfrm>
            <a:off x="8096246" y="4166096"/>
            <a:ext cx="3244868" cy="2952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850"/>
              <a:buFont typeface="Lato"/>
              <a:buNone/>
            </a:pPr>
            <a:r>
              <a:rPr b="1" i="0" lang="en-US" sz="1850" u="none" cap="none" strike="noStrike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Stack</a:t>
            </a:r>
            <a:endParaRPr b="0" i="0" sz="1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4"/>
          <p:cNvSpPr/>
          <p:nvPr/>
        </p:nvSpPr>
        <p:spPr>
          <a:xfrm>
            <a:off x="8096246" y="4574778"/>
            <a:ext cx="3244868" cy="6048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rPr lang="en-US" sz="14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React + Vite · JavaScript · GROQ LLM 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4A4A45"/>
              </a:buClr>
              <a:buSzPts val="1450"/>
              <a:buFont typeface="Lato"/>
              <a:buNone/>
            </a:pPr>
            <a:r>
              <a:t/>
            </a:r>
            <a:endParaRPr sz="1450">
              <a:solidFill>
                <a:srgbClr val="4A4A45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232" name="Google Shape;232;p14"/>
          <p:cNvSpPr/>
          <p:nvPr/>
        </p:nvSpPr>
        <p:spPr>
          <a:xfrm>
            <a:off x="11092800" y="6522275"/>
            <a:ext cx="1028400" cy="287100"/>
          </a:xfrm>
          <a:prstGeom prst="rect">
            <a:avLst/>
          </a:prstGeom>
          <a:solidFill>
            <a:srgbClr val="EFECE6"/>
          </a:solidFill>
          <a:ln cap="flat" cmpd="sng" w="9525">
            <a:solidFill>
              <a:srgbClr val="EFECE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